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7" r:id="rId2"/>
    <p:sldId id="265" r:id="rId3"/>
    <p:sldId id="256" r:id="rId4"/>
    <p:sldId id="257" r:id="rId5"/>
    <p:sldId id="259" r:id="rId6"/>
    <p:sldId id="260" r:id="rId7"/>
    <p:sldId id="261" r:id="rId8"/>
    <p:sldId id="264" r:id="rId9"/>
    <p:sldId id="263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11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C2393-D1F6-4156-9D86-18EDF79F0406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D455A-2DDE-41DA-8723-99FBC5A8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72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BD455A-2DDE-41DA-8723-99FBC5A819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41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BD455A-2DDE-41DA-8723-99FBC5A819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22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68A5-2AD9-D302-FF4D-90E9B958C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263D8-80FA-A2D8-B354-DB97E3B75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63B44-01A8-35A8-5080-309DF426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6EEDA-902D-6DA7-2559-AC5D7476C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D741-371F-A9A5-9382-0777B6D3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8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E772-4677-32BA-8C7B-307C4C9F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856A-199F-A521-7528-D31291961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5D0F7-4AAA-B26E-3709-C4A85CDD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B8276-8432-DDC0-3C2F-7EF377BE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7E557-0FA1-74C7-4120-CBB7BAA3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7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F0B23-7903-792A-2C1D-E2F68348C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0A0E7-DFD6-5A63-6494-5CBF0E609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70016-1724-65E7-AA60-10E0A462B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F06CF-9B84-B3D9-94EA-1CE76363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BD4B9-9494-48AE-6D90-05CD9CB8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DA23-09DF-9D56-C246-D1CB1F090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29F6-F808-09A8-5972-BA23E8010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5E926-1BAA-3C1A-150F-0E7D63EEE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F7B77-6C3E-BA95-F371-3437D2B8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2B10B-6FFA-C105-21DA-B8589C669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8F79C-EAE8-BE4A-0C61-2F1EA3FE7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25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6B9F6-7654-B12D-B7DF-63402A7E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51450-DDB6-3174-DDDB-1D37A5041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A7FC2-831B-19EA-93AC-AC1A33427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3CA59-6EC7-4CEB-5E89-DBF9EBD65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6CDCA-AA91-4918-BB46-D68CFBB80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7C17C-E67C-6EF7-E5EA-EF5D9F90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D2F145-C9CD-71CD-D1F6-31844367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C61317-B7F3-F558-07D2-EB2865810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4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B474-98F9-5369-5F3A-FE9EEEB5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51D64-7221-E608-BE77-B8EBE2DC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A4088-0FE0-2DCC-4605-984D8C21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817AC-7A28-5F25-0052-EA744E66B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9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331F54-80C1-EF0F-2FB3-21E227F6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847469-86CF-AB81-C4A5-37ED60801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7A96E-6C8E-DFDF-E8E8-F6955E24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4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8B9C-2EC7-44EA-08B0-8C954132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D501D-EE29-E235-B77E-C24877AF3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A448E-2CC7-5114-0EF8-27530509B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1387E-5ACD-316E-6ABE-A0FF496B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E666D-D62A-3305-9F34-5225644F3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3231D-5D04-4806-1BFB-1EE7AEB8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0F71-DE7F-CEF0-8F9F-BE03B3AB2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57794-BF6D-B13F-67CE-B66833AEC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E8C5C-23E6-181E-9107-1BECEB511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BB03D-BAF2-7E15-8EA2-49CB2BAB4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BDC8B-1BA1-8CE5-6414-8FDBB5E3E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F48F4-135B-C82E-199B-57504ECB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1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5695-47A2-10BD-F885-B883B502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6AB4F-B639-AA64-3228-48867D942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E411D-4CB4-5AE6-FE46-2CCA29AC0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3094B-0A4A-099B-BF8A-C0928D91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6B108-9055-C511-2984-5199969F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2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18A69-7083-FB76-2066-BD4E6FC64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C7DF0-6652-4D95-5FA2-1DDEF85FA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13CFE-517E-FC5B-DC37-A66E5F120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59A4-9EC3-E057-428C-A36A3186C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62B0B-4866-4BE9-8F07-8606E9A41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87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949B2-A5B4-6616-520E-FF65475C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8EC26-6161-2B8B-2B47-A48BD2631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0CD9F-3B4D-330E-FDEB-F58497B15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FE86D-34FD-4C4C-900E-CB5381F814F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64EE6-1D6E-AA58-3EBC-529AB80E6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9F823-C2E6-C9C7-22B5-95C263895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C03C4-AEA3-4E22-B19D-CE47F5CC1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84197C-9747-121F-A241-CC5D5BF3194E}"/>
              </a:ext>
            </a:extLst>
          </p:cNvPr>
          <p:cNvSpPr txBox="1"/>
          <p:nvPr/>
        </p:nvSpPr>
        <p:spPr>
          <a:xfrm>
            <a:off x="717755" y="1179871"/>
            <a:ext cx="1002890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Title:</a:t>
            </a:r>
          </a:p>
          <a:p>
            <a:endParaRPr lang="en-US" sz="3600" b="1" dirty="0"/>
          </a:p>
          <a:p>
            <a:r>
              <a:rPr lang="en-US" sz="3600" b="1" dirty="0"/>
              <a:t>Abstract:</a:t>
            </a:r>
          </a:p>
          <a:p>
            <a:endParaRPr lang="en-US" sz="3600" b="1" dirty="0"/>
          </a:p>
          <a:p>
            <a:r>
              <a:rPr lang="en-US" sz="3600" b="1" dirty="0"/>
              <a:t>Keywords:</a:t>
            </a:r>
          </a:p>
          <a:p>
            <a:endParaRPr lang="en-US" sz="3600" b="1" dirty="0"/>
          </a:p>
          <a:p>
            <a:r>
              <a:rPr lang="en-US" sz="3600" b="1" dirty="0"/>
              <a:t>1. Introduction: (size large with a literature review) (citation at least 10/12) </a:t>
            </a:r>
          </a:p>
        </p:txBody>
      </p:sp>
    </p:spTree>
    <p:extLst>
      <p:ext uri="{BB962C8B-B14F-4D97-AF65-F5344CB8AC3E}">
        <p14:creationId xmlns:p14="http://schemas.microsoft.com/office/powerpoint/2010/main" val="3092840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E045-B68A-3BBB-C5F5-C7F98D1B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4305B3-9E3D-8651-80C3-C52C0BA44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063" y="1790379"/>
            <a:ext cx="6533633" cy="49413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F447B7-9607-24D8-5DE0-94B0578AC487}"/>
              </a:ext>
            </a:extLst>
          </p:cNvPr>
          <p:cNvSpPr txBox="1"/>
          <p:nvPr/>
        </p:nvSpPr>
        <p:spPr>
          <a:xfrm>
            <a:off x="227152" y="103971"/>
            <a:ext cx="96407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2. Methodology:</a:t>
            </a:r>
          </a:p>
          <a:p>
            <a:r>
              <a:rPr lang="en-US" sz="2400" b="1" dirty="0"/>
              <a:t>2.1 </a:t>
            </a:r>
            <a:r>
              <a:rPr lang="en-US" sz="2400" b="1" i="1" dirty="0"/>
              <a:t>Dataset Description </a:t>
            </a:r>
            <a:r>
              <a:rPr lang="en-US" sz="2400" b="1" dirty="0"/>
              <a:t> (size very short) (citation -1 )</a:t>
            </a:r>
            <a:br>
              <a:rPr lang="en-US" sz="2400" b="1" dirty="0"/>
            </a:br>
            <a:r>
              <a:rPr lang="en-US" sz="2400" b="1" dirty="0"/>
              <a:t>2.2 </a:t>
            </a:r>
            <a:r>
              <a:rPr lang="en-US" sz="2400" b="1" i="1" dirty="0"/>
              <a:t>Data preprocessing &amp; augmentation </a:t>
            </a:r>
            <a:r>
              <a:rPr lang="en-US" sz="2400" b="1" dirty="0"/>
              <a:t>(size short) </a:t>
            </a:r>
            <a:endParaRPr lang="en-US" sz="2400" b="1" i="1" dirty="0"/>
          </a:p>
          <a:p>
            <a:r>
              <a:rPr lang="en-US" sz="2400" b="1" i="1" dirty="0"/>
              <a:t>2.3 </a:t>
            </a:r>
            <a:r>
              <a:rPr lang="en-US" sz="2400" b="1" dirty="0"/>
              <a:t> Proposed CNN model architecture (size medium + add suitable equations/formulas)</a:t>
            </a:r>
          </a:p>
          <a:p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AEAB79-3F1B-AD59-BE80-B51FB54DEDF1}"/>
              </a:ext>
            </a:extLst>
          </p:cNvPr>
          <p:cNvSpPr txBox="1"/>
          <p:nvPr/>
        </p:nvSpPr>
        <p:spPr>
          <a:xfrm>
            <a:off x="8658859" y="4084320"/>
            <a:ext cx="2418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1: this image is the proposed </a:t>
            </a:r>
            <a:r>
              <a:rPr lang="en-US" dirty="0" err="1"/>
              <a:t>cnn</a:t>
            </a:r>
            <a:r>
              <a:rPr lang="en-US" dirty="0"/>
              <a:t> model architecture 2.3 section(only 1 image here for latex code)</a:t>
            </a:r>
          </a:p>
        </p:txBody>
      </p:sp>
    </p:spTree>
    <p:extLst>
      <p:ext uri="{BB962C8B-B14F-4D97-AF65-F5344CB8AC3E}">
        <p14:creationId xmlns:p14="http://schemas.microsoft.com/office/powerpoint/2010/main" val="2571406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F238BA-3A20-B468-34E8-E806222AE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" y="812707"/>
            <a:ext cx="4791754" cy="2935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A81CEF-7937-9209-CC56-B1077718E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758" y="900356"/>
            <a:ext cx="4164929" cy="27578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BD019-13A9-66EF-1577-8508B0A3CDED}"/>
              </a:ext>
            </a:extLst>
          </p:cNvPr>
          <p:cNvSpPr txBox="1"/>
          <p:nvPr/>
        </p:nvSpPr>
        <p:spPr>
          <a:xfrm>
            <a:off x="257173" y="276225"/>
            <a:ext cx="8916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3. Deep Learning Model Comparison (size medium) (no citation)</a:t>
            </a:r>
          </a:p>
          <a:p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B6AD2-F794-0019-E642-031CE0B98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961" y="3774682"/>
            <a:ext cx="5159039" cy="23870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B38B3D-75DD-2F35-2953-101C2E5BA9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717" y="3790191"/>
            <a:ext cx="4920223" cy="22551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DFD5F7-9A92-EF87-3A93-9E2E7C4182EB}"/>
              </a:ext>
            </a:extLst>
          </p:cNvPr>
          <p:cNvSpPr txBox="1"/>
          <p:nvPr/>
        </p:nvSpPr>
        <p:spPr>
          <a:xfrm>
            <a:off x="804746" y="907167"/>
            <a:ext cx="943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</a:t>
            </a:r>
            <a:r>
              <a:rPr lang="en-GB" sz="2000" b="1" dirty="0"/>
              <a:t>a</a:t>
            </a:r>
            <a:r>
              <a:rPr lang="en-US" sz="2000" b="1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48ADD-EFD5-5B53-3F0B-1380BFBB9DF5}"/>
              </a:ext>
            </a:extLst>
          </p:cNvPr>
          <p:cNvSpPr txBox="1"/>
          <p:nvPr/>
        </p:nvSpPr>
        <p:spPr>
          <a:xfrm>
            <a:off x="5854095" y="8127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(</a:t>
            </a:r>
            <a:r>
              <a:rPr lang="en-GB" b="1" dirty="0"/>
              <a:t>b</a:t>
            </a:r>
            <a:r>
              <a:rPr lang="en-US" sz="1800" b="1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51898C-D9A5-12AF-42D0-475AB01E74F4}"/>
              </a:ext>
            </a:extLst>
          </p:cNvPr>
          <p:cNvSpPr txBox="1"/>
          <p:nvPr/>
        </p:nvSpPr>
        <p:spPr>
          <a:xfrm>
            <a:off x="468480" y="3790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(</a:t>
            </a:r>
            <a:r>
              <a:rPr lang="en-GB" b="1" dirty="0"/>
              <a:t>c</a:t>
            </a:r>
            <a:r>
              <a:rPr lang="en-US" sz="1800" b="1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D1E1AD-80C9-E321-442C-A76A334A4F0A}"/>
              </a:ext>
            </a:extLst>
          </p:cNvPr>
          <p:cNvSpPr txBox="1"/>
          <p:nvPr/>
        </p:nvSpPr>
        <p:spPr>
          <a:xfrm>
            <a:off x="5992243" y="36577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(</a:t>
            </a:r>
            <a:r>
              <a:rPr lang="en-GB" b="1" dirty="0"/>
              <a:t>d</a:t>
            </a:r>
            <a:r>
              <a:rPr lang="en-US" sz="1800" b="1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05456D-14C0-58A5-21FD-F54E9183A8D0}"/>
              </a:ext>
            </a:extLst>
          </p:cNvPr>
          <p:cNvSpPr txBox="1"/>
          <p:nvPr/>
        </p:nvSpPr>
        <p:spPr>
          <a:xfrm>
            <a:off x="0" y="6161761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Fig. 2. Performance of nine deep learning models on (a) average accuracy, (b) loss values, (c) fruit classification heatmap, and (d) fruit freshness classification heatmap across dataset splits for section 3. (here 4 sub image in 2*2 row col way in latex code)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108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E782-217C-D1BD-52AF-643523AF3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3A7ADB-8078-1A82-8A47-27EA66F73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283" y="739625"/>
            <a:ext cx="6775946" cy="53787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901466-13BA-43B4-377D-542451A0225A}"/>
              </a:ext>
            </a:extLst>
          </p:cNvPr>
          <p:cNvSpPr txBox="1"/>
          <p:nvPr/>
        </p:nvSpPr>
        <p:spPr>
          <a:xfrm>
            <a:off x="241896" y="238125"/>
            <a:ext cx="53133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4. Performance Metrices of </a:t>
            </a:r>
            <a:r>
              <a:rPr lang="en-US" sz="2000" b="1" dirty="0" err="1"/>
              <a:t>ResNet</a:t>
            </a:r>
            <a:r>
              <a:rPr lang="en-US" sz="2000" b="1" dirty="0"/>
              <a:t> – 152 ( size Large) (no citation)</a:t>
            </a:r>
          </a:p>
          <a:p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08B8A1-6A4C-DE23-0EEC-1CF788D51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6" y="1362075"/>
            <a:ext cx="4829174" cy="381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7104A8-80C4-5B0B-0F15-132C544FA212}"/>
              </a:ext>
            </a:extLst>
          </p:cNvPr>
          <p:cNvSpPr txBox="1"/>
          <p:nvPr/>
        </p:nvSpPr>
        <p:spPr>
          <a:xfrm>
            <a:off x="686400" y="4957196"/>
            <a:ext cx="3704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Table 1 this is for section 4 ( this table </a:t>
            </a:r>
          </a:p>
          <a:p>
            <a:r>
              <a:rPr lang="en-GB" dirty="0"/>
              <a:t>Should be exact like this in latex code)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9527E-EA8A-2BCC-394A-EC7FF91A6B58}"/>
              </a:ext>
            </a:extLst>
          </p:cNvPr>
          <p:cNvSpPr txBox="1"/>
          <p:nvPr/>
        </p:nvSpPr>
        <p:spPr>
          <a:xfrm>
            <a:off x="5776971" y="6136663"/>
            <a:ext cx="1053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Fig. 3 this is for section 4 (this is only 1 image for latex code)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57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BE23B-E7FE-068D-52C6-EC7EDB88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CBD1A9-916E-FAB4-FCF6-DE90140B8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81" y="934986"/>
            <a:ext cx="4774318" cy="43418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15D05E-DEED-AE79-CE1F-A555A1B16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642" y="934986"/>
            <a:ext cx="5981296" cy="39989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8B0C48-AE6A-86E8-504A-E2FBEDD939A1}"/>
              </a:ext>
            </a:extLst>
          </p:cNvPr>
          <p:cNvSpPr txBox="1"/>
          <p:nvPr/>
        </p:nvSpPr>
        <p:spPr>
          <a:xfrm>
            <a:off x="569062" y="945146"/>
            <a:ext cx="943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</a:t>
            </a:r>
            <a:r>
              <a:rPr lang="en-GB" sz="2000" b="1" dirty="0"/>
              <a:t>a</a:t>
            </a:r>
            <a:r>
              <a:rPr lang="en-US" sz="2000" b="1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0D3A2-86DB-334E-941B-51F65DDF6799}"/>
              </a:ext>
            </a:extLst>
          </p:cNvPr>
          <p:cNvSpPr txBox="1"/>
          <p:nvPr/>
        </p:nvSpPr>
        <p:spPr>
          <a:xfrm>
            <a:off x="5945706" y="1186107"/>
            <a:ext cx="943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</a:t>
            </a:r>
            <a:r>
              <a:rPr lang="en-GB" sz="2000" b="1" dirty="0"/>
              <a:t>b</a:t>
            </a:r>
            <a:r>
              <a:rPr lang="en-US" sz="2000" b="1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1CA40-7E61-73F1-9B29-0F42E8B2A13D}"/>
              </a:ext>
            </a:extLst>
          </p:cNvPr>
          <p:cNvSpPr txBox="1"/>
          <p:nvPr/>
        </p:nvSpPr>
        <p:spPr>
          <a:xfrm>
            <a:off x="1661652" y="5553682"/>
            <a:ext cx="10530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Fig. 4. this is for section 4 (a) fruit classify confusion matrix(b)freshness classify confusion matrix (here 2 sub image in 1*2 row col way for latex code)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27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4D74AD-FBC1-1AFF-3F36-D35673FD1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029" y="940419"/>
            <a:ext cx="6246846" cy="49771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543541-754A-96B7-A371-2A724C9FA888}"/>
              </a:ext>
            </a:extLst>
          </p:cNvPr>
          <p:cNvSpPr txBox="1"/>
          <p:nvPr/>
        </p:nvSpPr>
        <p:spPr>
          <a:xfrm>
            <a:off x="4330943" y="6250543"/>
            <a:ext cx="1053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Fig. 5 this is for section 4 (here only 1 image for latex code)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537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73292-BA4F-975F-49A2-2AD62AE4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32F621-A24F-A5FC-D968-FE4A16AA2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200" y="220654"/>
            <a:ext cx="4716300" cy="61690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19BA88-C773-96F8-8FFE-A089494A9163}"/>
              </a:ext>
            </a:extLst>
          </p:cNvPr>
          <p:cNvSpPr txBox="1"/>
          <p:nvPr/>
        </p:nvSpPr>
        <p:spPr>
          <a:xfrm>
            <a:off x="8669027" y="3709361"/>
            <a:ext cx="10530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Fig. 6 this is for section 4 ( here only</a:t>
            </a:r>
          </a:p>
          <a:p>
            <a:r>
              <a:rPr lang="en-GB" dirty="0"/>
              <a:t>1 image for latex code)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4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8A3C5F-9F46-C4E0-32DB-AC74664B8D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609" b="32845"/>
          <a:stretch>
            <a:fillRect/>
          </a:stretch>
        </p:blipFill>
        <p:spPr>
          <a:xfrm>
            <a:off x="63560" y="1104900"/>
            <a:ext cx="12064880" cy="5314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6721B4-BC23-0757-8602-3BE1F274D44E}"/>
              </a:ext>
            </a:extLst>
          </p:cNvPr>
          <p:cNvSpPr txBox="1"/>
          <p:nvPr/>
        </p:nvSpPr>
        <p:spPr>
          <a:xfrm>
            <a:off x="381000" y="216842"/>
            <a:ext cx="4564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5. Grad – CAM Analysis: (size short)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3C1384-F7E9-F535-CE9D-498B3954B722}"/>
              </a:ext>
            </a:extLst>
          </p:cNvPr>
          <p:cNvSpPr txBox="1"/>
          <p:nvPr/>
        </p:nvSpPr>
        <p:spPr>
          <a:xfrm>
            <a:off x="4628654" y="6419850"/>
            <a:ext cx="1053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Fig. 7 this is for section 5 (here only 1 image for latex code)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075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C3502-634B-366D-8FDE-AAD49596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82E733-DF71-499C-14FF-5DA29613C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325" y="1485900"/>
            <a:ext cx="2246790" cy="4648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DDBB6C-943F-4FB3-33FE-651FA62D3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277" y="1618615"/>
            <a:ext cx="2524125" cy="45158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38A024-03C1-B82C-4F40-3E84F2336CDF}"/>
              </a:ext>
            </a:extLst>
          </p:cNvPr>
          <p:cNvSpPr txBox="1"/>
          <p:nvPr/>
        </p:nvSpPr>
        <p:spPr>
          <a:xfrm>
            <a:off x="438150" y="390525"/>
            <a:ext cx="8627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6. Real-World Deployment: (size very short) (live website link)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066B1-2457-1249-F1A3-219F73427AB6}"/>
              </a:ext>
            </a:extLst>
          </p:cNvPr>
          <p:cNvSpPr txBox="1"/>
          <p:nvPr/>
        </p:nvSpPr>
        <p:spPr>
          <a:xfrm>
            <a:off x="2599214" y="1618615"/>
            <a:ext cx="943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</a:t>
            </a:r>
            <a:r>
              <a:rPr lang="en-GB" sz="2000" b="1" dirty="0"/>
              <a:t>a</a:t>
            </a:r>
            <a:r>
              <a:rPr lang="en-US" sz="2000" b="1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E420BA-5629-3CA3-750B-74E66BE2660A}"/>
              </a:ext>
            </a:extLst>
          </p:cNvPr>
          <p:cNvSpPr txBox="1"/>
          <p:nvPr/>
        </p:nvSpPr>
        <p:spPr>
          <a:xfrm>
            <a:off x="5428329" y="1485900"/>
            <a:ext cx="943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</a:t>
            </a:r>
            <a:r>
              <a:rPr lang="en-GB" sz="2000" b="1" dirty="0"/>
              <a:t>b</a:t>
            </a:r>
            <a:r>
              <a:rPr lang="en-US" sz="2000" b="1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DB86F-87E7-6611-75C3-13BAA685463E}"/>
              </a:ext>
            </a:extLst>
          </p:cNvPr>
          <p:cNvSpPr txBox="1"/>
          <p:nvPr/>
        </p:nvSpPr>
        <p:spPr>
          <a:xfrm>
            <a:off x="3695946" y="6267145"/>
            <a:ext cx="10530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Fig. 8. this is for section 6 (a)for fresh banana check (b)for rotten banana check (here</a:t>
            </a:r>
          </a:p>
          <a:p>
            <a:r>
              <a:rPr lang="en-GB" dirty="0"/>
              <a:t>2 sub image in 1*2 row col way for latex code)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858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F1553B-E16E-965D-3244-B3C916F7205F}"/>
              </a:ext>
            </a:extLst>
          </p:cNvPr>
          <p:cNvSpPr txBox="1"/>
          <p:nvPr/>
        </p:nvSpPr>
        <p:spPr>
          <a:xfrm>
            <a:off x="523874" y="466725"/>
            <a:ext cx="105374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7. Comparative Analysis: (just a table (with citation, cite relevant papers using the dataset that we have used here, comparable to our proposed work) with a short </a:t>
            </a:r>
            <a:r>
              <a:rPr lang="en-US" sz="2800" b="1" dirty="0" err="1"/>
              <a:t>comparision</a:t>
            </a:r>
            <a:r>
              <a:rPr lang="en-US" sz="2800" b="1" dirty="0"/>
              <a:t> writing)</a:t>
            </a:r>
          </a:p>
          <a:p>
            <a:endParaRPr lang="en-US" sz="2800" b="1" dirty="0"/>
          </a:p>
          <a:p>
            <a:r>
              <a:rPr lang="en-US" sz="2800" b="1" dirty="0"/>
              <a:t>8. Conclusion: (very short summary of the whole work, add a future direction in a single line)</a:t>
            </a:r>
          </a:p>
          <a:p>
            <a:endParaRPr lang="en-US" sz="2800" b="1" dirty="0"/>
          </a:p>
          <a:p>
            <a:r>
              <a:rPr lang="en-US" sz="2800" b="1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03441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2621</TotalTime>
  <Words>453</Words>
  <Application>Microsoft Office PowerPoint</Application>
  <PresentationFormat>Widescreen</PresentationFormat>
  <Paragraphs>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Nahian Abdullah</dc:creator>
  <cp:lastModifiedBy>Rifat Hossain</cp:lastModifiedBy>
  <cp:revision>36</cp:revision>
  <dcterms:created xsi:type="dcterms:W3CDTF">2025-08-11T18:30:27Z</dcterms:created>
  <dcterms:modified xsi:type="dcterms:W3CDTF">2025-08-17T07:25:35Z</dcterms:modified>
</cp:coreProperties>
</file>